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Economica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Roboto Mono"/>
      <p:regular r:id="rId28"/>
      <p:bold r:id="rId29"/>
      <p:italic r:id="rId30"/>
      <p:boldItalic r:id="rId31"/>
    </p:embeddedFont>
    <p:embeddedFont>
      <p:font typeface="Open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conomica-regular.fntdata"/><Relationship Id="rId22" Type="http://schemas.openxmlformats.org/officeDocument/2006/relationships/font" Target="fonts/Economica-italic.fntdata"/><Relationship Id="rId21" Type="http://schemas.openxmlformats.org/officeDocument/2006/relationships/font" Target="fonts/Economica-bold.fntdata"/><Relationship Id="rId24" Type="http://schemas.openxmlformats.org/officeDocument/2006/relationships/font" Target="fonts/Lato-regular.fntdata"/><Relationship Id="rId23" Type="http://schemas.openxmlformats.org/officeDocument/2006/relationships/font" Target="fonts/Economica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RobotoMono-regular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33" Type="http://schemas.openxmlformats.org/officeDocument/2006/relationships/font" Target="fonts/OpenSans-bold.fntdata"/><Relationship Id="rId10" Type="http://schemas.openxmlformats.org/officeDocument/2006/relationships/slide" Target="slides/slide5.xml"/><Relationship Id="rId32" Type="http://schemas.openxmlformats.org/officeDocument/2006/relationships/font" Target="fonts/OpenSans-regular.fntdata"/><Relationship Id="rId13" Type="http://schemas.openxmlformats.org/officeDocument/2006/relationships/slide" Target="slides/slide8.xml"/><Relationship Id="rId35" Type="http://schemas.openxmlformats.org/officeDocument/2006/relationships/font" Target="fonts/OpenSans-boldItalic.fntdata"/><Relationship Id="rId12" Type="http://schemas.openxmlformats.org/officeDocument/2006/relationships/slide" Target="slides/slide7.xml"/><Relationship Id="rId34" Type="http://schemas.openxmlformats.org/officeDocument/2006/relationships/font" Target="fonts/OpenSans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ec0eae93a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ec0eae93a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ec0eae93a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ec0eae93a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c0eae93a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c0eae93a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ec0eae93a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ec0eae93a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ec0eae93a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ec0eae93a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ec0eae93a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ec0eae93a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ec0eae93a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ec0eae93a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ec0eae93a8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ec0eae93a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c0eae93a8_0_6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c0eae93a8_0_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ec0eae93a8_0_6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ec0eae93a8_0_6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ec0eae93a8_0_6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ec0eae93a8_0_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ec0eae93a8_0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ec0eae93a8_0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ec0eae93a8_0_6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ec0eae93a8_0_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1100">
        <p:fade thruBlk="1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562827" y="1843050"/>
            <a:ext cx="5783400" cy="14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22860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t/>
            </a:r>
            <a:endParaRPr b="1" sz="2300"/>
          </a:p>
          <a:p>
            <a:pPr indent="0" lvl="0" marL="2286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2766"/>
              <a:t>Stroke Prediction Analysis</a:t>
            </a:r>
            <a:br>
              <a:rPr lang="en-GB" sz="2100"/>
            </a:br>
            <a:endParaRPr sz="6200"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11700" y="2927700"/>
            <a:ext cx="8520600" cy="12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-GB" sz="5807">
                <a:solidFill>
                  <a:schemeClr val="dk1"/>
                </a:solidFill>
              </a:rPr>
              <a:t>Subtitle:</a:t>
            </a:r>
            <a:r>
              <a:rPr lang="en-GB" sz="5807">
                <a:solidFill>
                  <a:schemeClr val="dk1"/>
                </a:solidFill>
              </a:rPr>
              <a:t> Data Analytics Case Study</a:t>
            </a:r>
            <a:br>
              <a:rPr lang="en-GB" sz="5807">
                <a:solidFill>
                  <a:schemeClr val="dk1"/>
                </a:solidFill>
              </a:rPr>
            </a:br>
            <a:r>
              <a:rPr b="1" lang="en-GB" sz="5807">
                <a:solidFill>
                  <a:schemeClr val="dk1"/>
                </a:solidFill>
              </a:rPr>
              <a:t>Presented by:</a:t>
            </a:r>
            <a:r>
              <a:rPr lang="en-GB" sz="5807">
                <a:solidFill>
                  <a:schemeClr val="dk1"/>
                </a:solidFill>
              </a:rPr>
              <a:t> Syed Muhammad Uzair Ahmed</a:t>
            </a:r>
            <a:br>
              <a:rPr lang="en-GB" sz="5807">
                <a:solidFill>
                  <a:schemeClr val="dk1"/>
                </a:solidFill>
              </a:rPr>
            </a:br>
            <a:r>
              <a:rPr b="1" lang="en-GB" sz="5807">
                <a:solidFill>
                  <a:schemeClr val="dk1"/>
                </a:solidFill>
              </a:rPr>
              <a:t>Date:</a:t>
            </a:r>
            <a:r>
              <a:rPr lang="en-GB" sz="5807">
                <a:solidFill>
                  <a:schemeClr val="dk1"/>
                </a:solidFill>
              </a:rPr>
              <a:t> 14/7/2024</a:t>
            </a:r>
            <a:endParaRPr sz="5807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89875" y="339450"/>
            <a:ext cx="8520600" cy="446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 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200"/>
              <a:t>Table of Contents</a:t>
            </a:r>
            <a:endParaRPr b="1" sz="22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GB" sz="2000">
                <a:solidFill>
                  <a:schemeClr val="dk1"/>
                </a:solidFill>
              </a:rPr>
              <a:t>Introduction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GB" sz="2000">
                <a:solidFill>
                  <a:schemeClr val="dk1"/>
                </a:solidFill>
              </a:rPr>
              <a:t>Objective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GB" sz="2000">
                <a:solidFill>
                  <a:schemeClr val="dk1"/>
                </a:solidFill>
              </a:rPr>
              <a:t>Data Overview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GB" sz="2000">
                <a:solidFill>
                  <a:schemeClr val="dk1"/>
                </a:solidFill>
              </a:rPr>
              <a:t>Data Preprocessing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GB" sz="2000">
                <a:solidFill>
                  <a:schemeClr val="dk1"/>
                </a:solidFill>
              </a:rPr>
              <a:t>Exploratory Data Analysis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GB" sz="2000">
                <a:solidFill>
                  <a:schemeClr val="dk1"/>
                </a:solidFill>
              </a:rPr>
              <a:t>Conclusion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GB" sz="2000">
                <a:solidFill>
                  <a:schemeClr val="dk1"/>
                </a:solidFill>
              </a:rPr>
              <a:t>Next Steps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386425"/>
            <a:ext cx="8520600" cy="42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3657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000"/>
              <a:t>Objective:</a:t>
            </a:r>
            <a:endParaRPr b="1" sz="20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</a:rPr>
              <a:t>To analyze the stroke prediction dataset to identify the risk factors associated with strokes. This analysis aims to provide insights on various trends associated with Stroke.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453375" y="419400"/>
            <a:ext cx="8520600" cy="45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/>
              <a:t>Dataset Source: Kaggle - Stroke Prediction Dataset</a:t>
            </a:r>
            <a:endParaRPr b="1"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/>
              <a:t>Features</a:t>
            </a:r>
            <a:r>
              <a:rPr b="1" lang="en-GB" sz="1700"/>
              <a:t>:</a:t>
            </a:r>
            <a:endParaRPr b="1" sz="17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en-GB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 Unique identifier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gender</a:t>
            </a:r>
            <a:r>
              <a:rPr lang="en-GB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 Gender of the patient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age</a:t>
            </a:r>
            <a:r>
              <a:rPr lang="en-GB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 Age of the patient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hypertension</a:t>
            </a:r>
            <a:r>
              <a:rPr lang="en-GB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 Whether the patient has hypertension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heart_disease:</a:t>
            </a:r>
            <a:r>
              <a:rPr lang="en-GB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Whether the patient has heart disease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ever_married:</a:t>
            </a:r>
            <a:r>
              <a:rPr lang="en-GB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Marital status of the patient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work_type:</a:t>
            </a:r>
            <a:r>
              <a:rPr lang="en-GB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Type of work the patient does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Residence_type:</a:t>
            </a:r>
            <a:r>
              <a:rPr lang="en-GB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Type of residence (Urban/Rural)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avg_glucose_level:</a:t>
            </a:r>
            <a:r>
              <a:rPr lang="en-GB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Average glucose level in the blood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bmi:</a:t>
            </a:r>
            <a:r>
              <a:rPr lang="en-GB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Body mass index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smoking_status:</a:t>
            </a:r>
            <a:r>
              <a:rPr lang="en-GB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Smoking status of the patient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</a:t>
            </a:r>
            <a:r>
              <a:rPr b="1" lang="en-GB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troke:</a:t>
            </a:r>
            <a:r>
              <a:rPr lang="en-GB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Whether the patient had a stroke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79" name="Google Shape;79;p16"/>
          <p:cNvSpPr/>
          <p:nvPr/>
        </p:nvSpPr>
        <p:spPr>
          <a:xfrm>
            <a:off x="163200" y="166775"/>
            <a:ext cx="4127400" cy="71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DATA OVERREVIEW</a:t>
            </a:r>
            <a:endParaRPr b="1" sz="2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682675"/>
            <a:ext cx="8520600" cy="70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Preprocessing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915250" y="15785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GB" sz="8055">
                <a:solidFill>
                  <a:schemeClr val="dk1"/>
                </a:solidFill>
              </a:rPr>
              <a:t>Steps:</a:t>
            </a:r>
            <a:endParaRPr b="1" sz="8455">
              <a:solidFill>
                <a:schemeClr val="dk1"/>
              </a:solidFill>
            </a:endParaRPr>
          </a:p>
          <a:p>
            <a:pPr indent="-35648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8055">
                <a:solidFill>
                  <a:schemeClr val="dk1"/>
                </a:solidFill>
              </a:rPr>
              <a:t>Handling missing values</a:t>
            </a:r>
            <a:endParaRPr sz="8055">
              <a:solidFill>
                <a:schemeClr val="dk1"/>
              </a:solidFill>
            </a:endParaRPr>
          </a:p>
          <a:p>
            <a:pPr indent="-3564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8055">
                <a:solidFill>
                  <a:schemeClr val="dk1"/>
                </a:solidFill>
              </a:rPr>
              <a:t>S</a:t>
            </a:r>
            <a:r>
              <a:rPr lang="en-GB" sz="8055">
                <a:solidFill>
                  <a:schemeClr val="dk1"/>
                </a:solidFill>
              </a:rPr>
              <a:t>tandardization</a:t>
            </a:r>
            <a:endParaRPr sz="8055">
              <a:solidFill>
                <a:schemeClr val="dk1"/>
              </a:solidFill>
            </a:endParaRPr>
          </a:p>
          <a:p>
            <a:pPr indent="-3564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8055">
                <a:solidFill>
                  <a:schemeClr val="dk1"/>
                </a:solidFill>
              </a:rPr>
              <a:t>Handling </a:t>
            </a:r>
            <a:r>
              <a:rPr lang="en-GB" sz="8055">
                <a:solidFill>
                  <a:schemeClr val="dk1"/>
                </a:solidFill>
              </a:rPr>
              <a:t>Duplicates</a:t>
            </a:r>
            <a:endParaRPr sz="8055">
              <a:solidFill>
                <a:schemeClr val="dk1"/>
              </a:solidFill>
            </a:endParaRPr>
          </a:p>
          <a:p>
            <a:pPr indent="-3564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8055">
                <a:solidFill>
                  <a:schemeClr val="dk1"/>
                </a:solidFill>
              </a:rPr>
              <a:t>Normalizing the data</a:t>
            </a:r>
            <a:endParaRPr sz="805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76300"/>
            <a:ext cx="8520600" cy="366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Exploratory Data Analysis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276200"/>
            <a:ext cx="8520600" cy="43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MARRIED PEOPLE HAS GREATER CHANCES OF STROKE AS </a:t>
            </a:r>
            <a:endParaRPr sz="1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/>
              <a:t>COMPARED TO NON MARRIED PEOPLE</a:t>
            </a:r>
            <a:endParaRPr sz="1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FEMALES HAVE </a:t>
            </a:r>
            <a:r>
              <a:rPr lang="en-GB" sz="1200"/>
              <a:t>SLIGHTLY</a:t>
            </a:r>
            <a:r>
              <a:rPr lang="en-GB" sz="1200"/>
              <a:t> GREATER CHANCES OF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200"/>
              <a:t>            STROKE </a:t>
            </a:r>
            <a:r>
              <a:rPr lang="en-GB" sz="1200"/>
              <a:t>THAN</a:t>
            </a:r>
            <a:r>
              <a:rPr lang="en-GB" sz="1200"/>
              <a:t> MEN</a:t>
            </a:r>
            <a:endParaRPr sz="1200"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0125" y="276200"/>
            <a:ext cx="3251800" cy="443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98025"/>
            <a:ext cx="8520600" cy="44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The chances of stroke varies between </a:t>
            </a:r>
            <a:r>
              <a:rPr lang="en-GB"/>
              <a:t>different</a:t>
            </a:r>
            <a:r>
              <a:rPr lang="en-GB"/>
              <a:t> ages however the age between 70 to 80 has a Greater chance of stroke comparatively</a:t>
            </a: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7513" y="307438"/>
            <a:ext cx="5991225" cy="332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0"/>
            <a:ext cx="8520600" cy="45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The relationship between stroke and hypertension is </a:t>
            </a:r>
            <a:r>
              <a:rPr lang="en-GB"/>
              <a:t>directly</a:t>
            </a:r>
            <a:r>
              <a:rPr lang="en-GB"/>
              <a:t> proportional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Whereas private job workers have a very great chance of stroke</a:t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0275" y="151125"/>
            <a:ext cx="6613075" cy="311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82400"/>
            <a:ext cx="8520600" cy="43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The heart disease has a </a:t>
            </a:r>
            <a:r>
              <a:rPr lang="en-GB"/>
              <a:t>slightly</a:t>
            </a:r>
            <a:r>
              <a:rPr lang="en-GB"/>
              <a:t> stronger chance at Avg glucose level between 80 to 120 along with approx 25 bmi.</a:t>
            </a:r>
            <a:endParaRPr/>
          </a:p>
        </p:txBody>
      </p:sp>
      <p:pic>
        <p:nvPicPr>
          <p:cNvPr id="114" name="Google Shape;1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350963"/>
            <a:ext cx="7315200" cy="319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311700" y="0"/>
            <a:ext cx="8520600" cy="47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The following illustration shows us that the heart disease is not the major cause of stroke however people having no heart disease are also less likely to have stroke</a:t>
            </a:r>
            <a:endParaRPr/>
          </a:p>
        </p:txBody>
      </p:sp>
      <p:pic>
        <p:nvPicPr>
          <p:cNvPr id="120" name="Google Shape;120;p23"/>
          <p:cNvPicPr preferRelativeResize="0"/>
          <p:nvPr/>
        </p:nvPicPr>
        <p:blipFill rotWithShape="1">
          <a:blip r:embed="rId3">
            <a:alphaModFix/>
          </a:blip>
          <a:srcRect b="0" l="0" r="-9122" t="0"/>
          <a:stretch/>
        </p:blipFill>
        <p:spPr>
          <a:xfrm>
            <a:off x="1209000" y="135500"/>
            <a:ext cx="6691250" cy="339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</a:t>
            </a:r>
            <a:endParaRPr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147225"/>
            <a:ext cx="8520600" cy="34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GB" sz="1900">
                <a:latin typeface="Arial"/>
                <a:ea typeface="Arial"/>
                <a:cs typeface="Arial"/>
                <a:sym typeface="Arial"/>
              </a:rPr>
              <a:t> </a:t>
            </a:r>
            <a:endParaRPr b="1"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900">
                <a:latin typeface="Arial"/>
                <a:ea typeface="Arial"/>
                <a:cs typeface="Arial"/>
                <a:sym typeface="Arial"/>
              </a:rPr>
              <a:t>Insights</a:t>
            </a:r>
            <a:endParaRPr b="1" sz="19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Age, hypertension, heart disease, and average glucose level are significant predictors of stroke.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Early detection and management of these risk factors can help in preventing strokes.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Married people mostly females and having private jobs are more likely to have strokes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Stroke can occur in any age group and the elders have 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slightly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 greater chances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311700" y="401275"/>
            <a:ext cx="8520600" cy="41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 Items</a:t>
            </a:r>
            <a:endParaRPr b="1"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Develop a user-friendly tool for healthcare providers to input patient data and receive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stroke risk predictions.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Share insights with public health organizations to develop targeted stroke prevention programs.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311700" y="315925"/>
            <a:ext cx="8520600" cy="402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